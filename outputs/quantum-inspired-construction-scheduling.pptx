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a2878179d64691" /><Relationship Type="http://schemas.openxmlformats.org/officeDocument/2006/relationships/extended-properties" Target="/docProps/app.xml" Id="R49fdebd9b0684cf4" /><Relationship Type="http://schemas.openxmlformats.org/officeDocument/2006/relationships/officeDocument" Target="/ppt/presentation.xml" Id="R338163a41f12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bb056457447dd"/>
  </p:sldMasterIdLst>
  <p:notesMasterIdLst>
    <p:notesMasterId xmlns:r="http://schemas.openxmlformats.org/officeDocument/2006/relationships" r:id="Rcf44c7bf238445dd"/>
  </p:notesMasterIdLst>
  <p:sldIdLst>
    <p:sldId xmlns:r="http://schemas.openxmlformats.org/officeDocument/2006/relationships" id="256" r:id="R73ed5e590a49475e"/>
    <p:sldId xmlns:r="http://schemas.openxmlformats.org/officeDocument/2006/relationships" id="257" r:id="R709de0c2a68a4e12"/>
    <p:sldId xmlns:r="http://schemas.openxmlformats.org/officeDocument/2006/relationships" id="258" r:id="R50d6e7c6863e429e"/>
    <p:sldId xmlns:r="http://schemas.openxmlformats.org/officeDocument/2006/relationships" id="259" r:id="Rda97f7ff8dd845d4"/>
    <p:sldId xmlns:r="http://schemas.openxmlformats.org/officeDocument/2006/relationships" id="260" r:id="R48286c1b28e54f0b"/>
    <p:sldId xmlns:r="http://schemas.openxmlformats.org/officeDocument/2006/relationships" id="261" r:id="R0d53870eebed43ef"/>
    <p:sldId xmlns:r="http://schemas.openxmlformats.org/officeDocument/2006/relationships" id="262" r:id="R208cbfce69364f74"/>
    <p:sldId xmlns:r="http://schemas.openxmlformats.org/officeDocument/2006/relationships" id="263" r:id="R0fe588940cd94201"/>
    <p:sldId xmlns:r="http://schemas.openxmlformats.org/officeDocument/2006/relationships" id="264" r:id="Rc06f4a65a5e94a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0e791be214739" /><Relationship Type="http://schemas.openxmlformats.org/officeDocument/2006/relationships/slideMaster" Target="/ppt/slideMasters/slideMaster1.xml" Id="R746bb056457447dd" /><Relationship Type="http://schemas.openxmlformats.org/officeDocument/2006/relationships/notesMaster" Target="/ppt/notesMasters/notesMaster1.xml" Id="Rcf44c7bf238445dd" /><Relationship Type="http://schemas.openxmlformats.org/officeDocument/2006/relationships/presProps" Target="/ppt/presProps.xml" Id="Rea82fb0d13b3427b" /><Relationship Type="http://schemas.openxmlformats.org/officeDocument/2006/relationships/tableStyles" Target="/ppt/tableStyles.xml" Id="Rcbabb94c24c74520" /><Relationship Type="http://schemas.openxmlformats.org/officeDocument/2006/relationships/slide" Target="/ppt/slides/slide1.xml" Id="R73ed5e590a49475e" /><Relationship Type="http://schemas.openxmlformats.org/officeDocument/2006/relationships/slide" Target="/ppt/slides/slide2.xml" Id="R709de0c2a68a4e12" /><Relationship Type="http://schemas.openxmlformats.org/officeDocument/2006/relationships/slide" Target="/ppt/slides/slide3.xml" Id="R50d6e7c6863e429e" /><Relationship Type="http://schemas.openxmlformats.org/officeDocument/2006/relationships/slide" Target="/ppt/slides/slide4.xml" Id="Rda97f7ff8dd845d4" /><Relationship Type="http://schemas.openxmlformats.org/officeDocument/2006/relationships/slide" Target="/ppt/slides/slide5.xml" Id="R48286c1b28e54f0b" /><Relationship Type="http://schemas.openxmlformats.org/officeDocument/2006/relationships/slide" Target="/ppt/slides/slide6.xml" Id="R0d53870eebed43ef" /><Relationship Type="http://schemas.openxmlformats.org/officeDocument/2006/relationships/slide" Target="/ppt/slides/slide7.xml" Id="R208cbfce69364f74" /><Relationship Type="http://schemas.openxmlformats.org/officeDocument/2006/relationships/slide" Target="/ppt/slides/slide8.xml" Id="R0fe588940cd94201" /><Relationship Type="http://schemas.openxmlformats.org/officeDocument/2006/relationships/slide" Target="/ppt/slides/slide9.xml" Id="Rc06f4a65a5e94a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7908f518c8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d0e83eebf4b10" /><Relationship Type="http://schemas.openxmlformats.org/officeDocument/2006/relationships/notesMaster" Target="/ppt/notesMasters/notesMaster1.xml" Id="R716e22df9a754a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243c622a294d4f" /><Relationship Type="http://schemas.openxmlformats.org/officeDocument/2006/relationships/notesMaster" Target="/ppt/notesMasters/notesMaster1.xml" Id="Rc8488a89e1034e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7b470d0cb34ba1" /><Relationship Type="http://schemas.openxmlformats.org/officeDocument/2006/relationships/notesMaster" Target="/ppt/notesMasters/notesMaster1.xml" Id="Rf219ee5916644c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80b74a05a4c12" /><Relationship Type="http://schemas.openxmlformats.org/officeDocument/2006/relationships/notesMaster" Target="/ppt/notesMasters/notesMaster1.xml" Id="R8e0b9da1c59147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b868a2fe7c480f" /><Relationship Type="http://schemas.openxmlformats.org/officeDocument/2006/relationships/notesMaster" Target="/ppt/notesMasters/notesMaster1.xml" Id="Rebd9eaa4a7644a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5dc2944f4b4222" /><Relationship Type="http://schemas.openxmlformats.org/officeDocument/2006/relationships/notesMaster" Target="/ppt/notesMasters/notesMaster1.xml" Id="R12a308d6fa1349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867749c6f049ed" /><Relationship Type="http://schemas.openxmlformats.org/officeDocument/2006/relationships/notesMaster" Target="/ppt/notesMasters/notesMaster1.xml" Id="Rfa0c81513dda43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0ac3b29d084cd9" /><Relationship Type="http://schemas.openxmlformats.org/officeDocument/2006/relationships/notesMaster" Target="/ppt/notesMasters/notesMaster1.xml" Id="Re6c91c6ca17b47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b40520e72d46bd" /><Relationship Type="http://schemas.openxmlformats.org/officeDocument/2006/relationships/notesMaster" Target="/ppt/notesMasters/notesMaster1.xml" Id="R7095655214db44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2b08bb6634b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eafaf22e3948d0" /><Relationship Type="http://schemas.openxmlformats.org/officeDocument/2006/relationships/slideLayout" Target="/ppt/slideLayouts/slideLayout1.xml" Id="R12ac6404ce494c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ac6404ce494c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abb4762d64f48" /><Relationship Type="http://schemas.openxmlformats.org/officeDocument/2006/relationships/notesSlide" Target="/ppt/notesSlides/notesSlide1.xml" Id="R81dda518bae94f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43d4ee8424f8c" /><Relationship Type="http://schemas.openxmlformats.org/officeDocument/2006/relationships/image" Target="/ppt/media/image.png" Id="R6e8d9c07c83d40fa" /><Relationship Type="http://schemas.openxmlformats.org/officeDocument/2006/relationships/notesSlide" Target="/ppt/notesSlides/notesSlide2.xml" Id="R4c6f07df8b694b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e2dcc31ff4590" /><Relationship Type="http://schemas.openxmlformats.org/officeDocument/2006/relationships/notesSlide" Target="/ppt/notesSlides/notesSlide3.xml" Id="Rd4ed05096f4748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10a38fc944867" /><Relationship Type="http://schemas.openxmlformats.org/officeDocument/2006/relationships/image" Target="/ppt/media/image2.png" Id="R81005328a302431b" /><Relationship Type="http://schemas.openxmlformats.org/officeDocument/2006/relationships/notesSlide" Target="/ppt/notesSlides/notesSlide4.xml" Id="Rf3312b32b10d45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19d890f184a2b" /><Relationship Type="http://schemas.openxmlformats.org/officeDocument/2006/relationships/notesSlide" Target="/ppt/notesSlides/notesSlide5.xml" Id="R13bab0550e0144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546994c5c4cb8" /><Relationship Type="http://schemas.openxmlformats.org/officeDocument/2006/relationships/image" Target="/ppt/media/image3.png" Id="R4b5d3651ee5c41a5" /><Relationship Type="http://schemas.openxmlformats.org/officeDocument/2006/relationships/notesSlide" Target="/ppt/notesSlides/notesSlide6.xml" Id="R1f06315f798b47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6777be0764bf7" /><Relationship Type="http://schemas.openxmlformats.org/officeDocument/2006/relationships/image" Target="/ppt/media/image4.png" Id="R126f9484bcf4467a" /><Relationship Type="http://schemas.openxmlformats.org/officeDocument/2006/relationships/notesSlide" Target="/ppt/notesSlides/notesSlide7.xml" Id="R7952f813314040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fcc0619a943ae" /><Relationship Type="http://schemas.openxmlformats.org/officeDocument/2006/relationships/image" Target="/ppt/media/image5.png" Id="R833c50b09196424a" /><Relationship Type="http://schemas.openxmlformats.org/officeDocument/2006/relationships/notesSlide" Target="/ppt/notesSlides/notesSlide8.xml" Id="R65ead73572dd4e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048ee7d654bcb" /><Relationship Type="http://schemas.openxmlformats.org/officeDocument/2006/relationships/notesSlide" Target="/ppt/notesSlides/notesSlide9.xml" Id="Re40806570ce9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lue-rail">
            <a:extLst xmlns:a="http://schemas.openxmlformats.org/drawingml/2006/main">
              <a:ext uri="{FF2B5EF4-FFF2-40B4-BE49-F238E27FC236}">
                <a16:creationId xmlns:a16="http://schemas.microsoft.com/office/drawing/2014/main" id="{6F04BE16-6937-4FE5-86D3-12AB4FF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B7"/>
          </a:solidFill>
          <a:ln xmlns:a="http://schemas.openxmlformats.org/drawingml/2006/main" w="0">
            <a:solidFill>
              <a:srgbClr val="2F72B7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069D313-2ADD-41A0-9D09-F8368311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239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Construction Crew
Scheduling Project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29BC16E-4991-4BAB-AE3F-E1DDE3C8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666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Using a QUBO model and simulated annealing</a:t>
            </a:r>
          </a:p>
        </p:txBody>
      </p:sp>
      <p:sp>
        <p:nvSpPr>
          <p:cNvPr id="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D0FCF588-6AA2-4AD1-B660-9A890349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6953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The results are compared with a CPM-based scheduler.</a:t>
            </a:r>
          </a:p>
        </p:txBody>
      </p:sp>
      <p:sp>
        <p:nvSpPr>
          <p:cNvPr id="5" name="cover-visual-panel">
            <a:extLst xmlns:a="http://schemas.openxmlformats.org/drawingml/2006/main">
              <a:ext uri="{FF2B5EF4-FFF2-40B4-BE49-F238E27FC236}">
                <a16:creationId xmlns:a16="http://schemas.microsoft.com/office/drawing/2014/main" id="{44C8D10D-8E08-4C73-AB31-953B2459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095375"/>
            <a:ext cx="2762250" cy="43815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0">
            <a:solidFill>
              <a:srgbClr val="DCEBFA"/>
            </a:solidFill>
            <a:prstDash val="solid"/>
          </a:ln>
        </p:spPr>
      </p:sp>
      <p:sp>
        <p:nvSpPr>
          <p:cNvPr id="6" name="site-block">
            <a:extLst xmlns:a="http://schemas.openxmlformats.org/drawingml/2006/main">
              <a:ext uri="{FF2B5EF4-FFF2-40B4-BE49-F238E27FC236}">
                <a16:creationId xmlns:a16="http://schemas.microsoft.com/office/drawing/2014/main" id="{259C5DB1-2046-4769-8CA0-088A7886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000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site-text">
            <a:extLst xmlns:a="http://schemas.openxmlformats.org/drawingml/2006/main">
              <a:ext uri="{FF2B5EF4-FFF2-40B4-BE49-F238E27FC236}">
                <a16:creationId xmlns:a16="http://schemas.microsoft.com/office/drawing/2014/main" id="{175196C1-26D0-4CC2-B700-C51B9B38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24025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Site preparation</a:t>
            </a:r>
          </a:p>
        </p:txBody>
      </p:sp>
      <p:sp>
        <p:nvSpPr>
          <p:cNvPr id="8" name="frame-block">
            <a:extLst xmlns:a="http://schemas.openxmlformats.org/drawingml/2006/main">
              <a:ext uri="{FF2B5EF4-FFF2-40B4-BE49-F238E27FC236}">
                <a16:creationId xmlns:a16="http://schemas.microsoft.com/office/drawing/2014/main" id="{F58DE61C-1244-4959-ABDD-77C60DF1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000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9" name="frame-text">
            <a:extLst xmlns:a="http://schemas.openxmlformats.org/drawingml/2006/main">
              <a:ext uri="{FF2B5EF4-FFF2-40B4-BE49-F238E27FC236}">
                <a16:creationId xmlns:a16="http://schemas.microsoft.com/office/drawing/2014/main" id="{A929AA68-68BD-40B2-9903-FDDBE5E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194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Framing</a:t>
            </a:r>
          </a:p>
        </p:txBody>
      </p:sp>
      <p:sp>
        <p:nvSpPr>
          <p:cNvPr id="10" name="finish-block">
            <a:extLst xmlns:a="http://schemas.openxmlformats.org/drawingml/2006/main">
              <a:ext uri="{FF2B5EF4-FFF2-40B4-BE49-F238E27FC236}">
                <a16:creationId xmlns:a16="http://schemas.microsoft.com/office/drawing/2014/main" id="{08A6D047-09CB-4584-BEDA-823B1360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62375"/>
            <a:ext cx="2000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finish-text">
            <a:extLst xmlns:a="http://schemas.openxmlformats.org/drawingml/2006/main">
              <a:ext uri="{FF2B5EF4-FFF2-40B4-BE49-F238E27FC236}">
                <a16:creationId xmlns:a16="http://schemas.microsoft.com/office/drawing/2014/main" id="{4CA1C976-F3C2-4F8A-9D7C-98D45AEB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14775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Final inspection</a:t>
            </a:r>
          </a:p>
        </p:txBody>
      </p:sp>
      <p:sp>
        <p:nvSpPr>
          <p:cNvPr id="12" name="flow-line-1">
            <a:extLst xmlns:a="http://schemas.openxmlformats.org/drawingml/2006/main">
              <a:ext uri="{FF2B5EF4-FFF2-40B4-BE49-F238E27FC236}">
                <a16:creationId xmlns:a16="http://schemas.microsoft.com/office/drawing/2014/main" id="{720B73C8-419E-4C03-B4CF-A4F54F1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14550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B7"/>
          </a:solidFill>
          <a:ln xmlns:a="http://schemas.openxmlformats.org/drawingml/2006/main" w="0">
            <a:solidFill>
              <a:srgbClr val="2F72B7"/>
            </a:solidFill>
            <a:prstDash val="solid"/>
          </a:ln>
        </p:spPr>
      </p:sp>
      <p:sp>
        <p:nvSpPr>
          <p:cNvPr id="13" name="flow-line-2">
            <a:extLst xmlns:a="http://schemas.openxmlformats.org/drawingml/2006/main">
              <a:ext uri="{FF2B5EF4-FFF2-40B4-BE49-F238E27FC236}">
                <a16:creationId xmlns:a16="http://schemas.microsoft.com/office/drawing/2014/main" id="{C3A7211B-D697-4306-AAEC-0492A721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209925"/>
            <a:ext cx="476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B7"/>
          </a:solidFill>
          <a:ln xmlns:a="http://schemas.openxmlformats.org/drawingml/2006/main" w="0">
            <a:solidFill>
              <a:srgbClr val="2F72B7"/>
            </a:solidFill>
            <a:prstDash val="solid"/>
          </a:ln>
        </p:spPr>
      </p:sp>
      <p:sp>
        <p:nvSpPr>
          <p:cNvPr id="14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58F630C-5C86-4718-8F96-4EE9A5E2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81725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5" name="page-1">
            <a:extLst xmlns:a="http://schemas.openxmlformats.org/drawingml/2006/main">
              <a:ext uri="{FF2B5EF4-FFF2-40B4-BE49-F238E27FC236}">
                <a16:creationId xmlns:a16="http://schemas.microsoft.com/office/drawing/2014/main" id="{D55DDD6C-087D-495C-9E18-9034290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87149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">
            <a:extLst xmlns:a="http://schemas.openxmlformats.org/drawingml/2006/main">
              <a:ext uri="{FF2B5EF4-FFF2-40B4-BE49-F238E27FC236}">
                <a16:creationId xmlns:a16="http://schemas.microsoft.com/office/drawing/2014/main" id="{C4DAE108-644D-43F4-8A21-8218950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The construction schedule</a:t>
            </a:r>
          </a:p>
        </p:txBody>
      </p:sp>
      <p:sp>
        <p:nvSpPr>
          <p:cNvPr id="2" name="problem-note-1">
            <a:extLst xmlns:a="http://schemas.openxmlformats.org/drawingml/2006/main">
              <a:ext uri="{FF2B5EF4-FFF2-40B4-BE49-F238E27FC236}">
                <a16:creationId xmlns:a16="http://schemas.microsoft.com/office/drawing/2014/main" id="{91A5A6CE-0F50-4C4A-9F45-8EED552A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" name="problem-note-1-title">
            <a:extLst xmlns:a="http://schemas.openxmlformats.org/drawingml/2006/main">
              <a:ext uri="{FF2B5EF4-FFF2-40B4-BE49-F238E27FC236}">
                <a16:creationId xmlns:a16="http://schemas.microsoft.com/office/drawing/2014/main" id="{70753787-4CEE-46D7-A348-00408EA3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Task order</a:t>
            </a:r>
          </a:p>
        </p:txBody>
      </p:sp>
      <p:sp>
        <p:nvSpPr>
          <p:cNvPr id="4" name="problem-note-1-body">
            <a:extLst xmlns:a="http://schemas.openxmlformats.org/drawingml/2006/main">
              <a:ext uri="{FF2B5EF4-FFF2-40B4-BE49-F238E27FC236}">
                <a16:creationId xmlns:a16="http://schemas.microsoft.com/office/drawing/2014/main" id="{8FD1EC8F-5120-488B-BF21-64E76B00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Each task takes a set amount of time. Some tasks must wait for earlier work to finish.</a:t>
            </a:r>
          </a:p>
        </p:txBody>
      </p:sp>
      <p:sp>
        <p:nvSpPr>
          <p:cNvPr id="5" name="problem-note-2">
            <a:extLst xmlns:a="http://schemas.openxmlformats.org/drawingml/2006/main">
              <a:ext uri="{FF2B5EF4-FFF2-40B4-BE49-F238E27FC236}">
                <a16:creationId xmlns:a16="http://schemas.microsoft.com/office/drawing/2014/main" id="{45100E27-77F5-4164-AA85-60B46E7E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problem-note-2-title">
            <a:extLst xmlns:a="http://schemas.openxmlformats.org/drawingml/2006/main">
              <a:ext uri="{FF2B5EF4-FFF2-40B4-BE49-F238E27FC236}">
                <a16:creationId xmlns:a16="http://schemas.microsoft.com/office/drawing/2014/main" id="{CFBE21F5-9EB5-4455-9BDE-33D18150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Crew limit</a:t>
            </a:r>
          </a:p>
        </p:txBody>
      </p:sp>
      <p:sp>
        <p:nvSpPr>
          <p:cNvPr id="7" name="problem-note-2-body">
            <a:extLst xmlns:a="http://schemas.openxmlformats.org/drawingml/2006/main">
              <a:ext uri="{FF2B5EF4-FFF2-40B4-BE49-F238E27FC236}">
                <a16:creationId xmlns:a16="http://schemas.microsoft.com/office/drawing/2014/main" id="{E30B1244-40B1-4F90-999C-09F43B8D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837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Three crews are available. A task may be ready but still have to wait.</a:t>
            </a:r>
          </a:p>
        </p:txBody>
      </p:sp>
      <p:sp>
        <p:nvSpPr>
          <p:cNvPr id="8" name="graph-caption">
            <a:extLst xmlns:a="http://schemas.openxmlformats.org/drawingml/2006/main">
              <a:ext uri="{FF2B5EF4-FFF2-40B4-BE49-F238E27FC236}">
                <a16:creationId xmlns:a16="http://schemas.microsoft.com/office/drawing/2014/main" id="{3AC731B2-80ED-453A-B9C5-47495E6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53075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The arrows show the order of the work.</a:t>
            </a:r>
          </a:p>
        </p:txBody>
      </p:sp>
      <p:sp>
        <p:nvSpPr>
          <p:cNvPr id="9" name="source-2">
            <a:extLst xmlns:a="http://schemas.openxmlformats.org/drawingml/2006/main">
              <a:ext uri="{FF2B5EF4-FFF2-40B4-BE49-F238E27FC236}">
                <a16:creationId xmlns:a16="http://schemas.microsoft.com/office/drawing/2014/main" id="{D0824541-8F09-4221-AB44-54A8EB28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page-2">
            <a:extLst xmlns:a="http://schemas.openxmlformats.org/drawingml/2006/main">
              <a:ext uri="{FF2B5EF4-FFF2-40B4-BE49-F238E27FC236}">
                <a16:creationId xmlns:a16="http://schemas.microsoft.com/office/drawing/2014/main" id="{B2E7EB0A-4C29-4013-A96B-A86B7D69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d9c07c83d40fa"/>
          <a:stretch xmlns:a="http://schemas.openxmlformats.org/drawingml/2006/main"/>
        </p:blipFill>
        <p:spPr>
          <a:xfrm xmlns:a="http://schemas.openxmlformats.org/drawingml/2006/main">
            <a:off x="4095750" y="1803152"/>
            <a:ext cx="7572375" cy="3404095"/>
          </a:xfrm>
          <a:prstGeom xmlns:a="http://schemas.openxmlformats.org/drawingml/2006/main" prst="rect">
            <a:avLst/>
          </a:prstGeom>
        </p:spPr>
      </p:pic>
      <p:sp>
        <p:nvSpPr>
          <p:cNvPr id="12" name="dependency-title-mask">
            <a:extLst xmlns:a="http://schemas.openxmlformats.org/drawingml/2006/main">
              <a:ext uri="{FF2B5EF4-FFF2-40B4-BE49-F238E27FC236}">
                <a16:creationId xmlns:a16="http://schemas.microsoft.com/office/drawing/2014/main" id="{8E930387-27FD-47CE-AD00-09BEBA5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3667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5231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3">
            <a:extLst xmlns:a="http://schemas.openxmlformats.org/drawingml/2006/main">
              <a:ext uri="{FF2B5EF4-FFF2-40B4-BE49-F238E27FC236}">
                <a16:creationId xmlns:a16="http://schemas.microsoft.com/office/drawing/2014/main" id="{1D180015-90A3-45B8-A2F2-695FCBA2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How the project works</a:t>
            </a:r>
          </a:p>
        </p:txBody>
      </p:sp>
      <p:sp>
        <p:nvSpPr>
          <p:cNvPr id="2" name="process-line">
            <a:extLst xmlns:a="http://schemas.openxmlformats.org/drawingml/2006/main">
              <a:ext uri="{FF2B5EF4-FFF2-40B4-BE49-F238E27FC236}">
                <a16:creationId xmlns:a16="http://schemas.microsoft.com/office/drawing/2014/main" id="{77F92533-7D09-41B0-B9C0-F839CFF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3" name="source-3">
            <a:extLst xmlns:a="http://schemas.openxmlformats.org/drawingml/2006/main">
              <a:ext uri="{FF2B5EF4-FFF2-40B4-BE49-F238E27FC236}">
                <a16:creationId xmlns:a16="http://schemas.microsoft.com/office/drawing/2014/main" id="{30AEDF65-8C45-4D97-A13B-F966B7C5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C9ECC7E7-4E8A-425E-AEF7-E71EEE43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5" name="step-circle-0">
            <a:extLst xmlns:a="http://schemas.openxmlformats.org/drawingml/2006/main">
              <a:ext uri="{FF2B5EF4-FFF2-40B4-BE49-F238E27FC236}">
                <a16:creationId xmlns:a16="http://schemas.microsoft.com/office/drawing/2014/main" id="{C2AFFEE3-25EA-471F-86A3-AEFBF8A5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86306133-681B-4179-9C96-4117F390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390775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E4CDE98-E3F6-42EF-AF63-84C8FA9B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524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Set up the tasks</a:t>
            </a:r>
          </a:p>
        </p:txBody>
      </p:sp>
      <p:sp>
        <p:nvSpPr>
          <p:cNvPr id="8" name="step-body-0">
            <a:extLst xmlns:a="http://schemas.openxmlformats.org/drawingml/2006/main">
              <a:ext uri="{FF2B5EF4-FFF2-40B4-BE49-F238E27FC236}">
                <a16:creationId xmlns:a16="http://schemas.microsoft.com/office/drawing/2014/main" id="{7AA9D287-B269-4FED-A354-DC21E0C2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2333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Enter each task length and dependency.</a:t>
            </a:r>
          </a:p>
        </p:txBody>
      </p:sp>
      <p:sp>
        <p:nvSpPr>
          <p:cNvPr id="9" name="step-circle-1">
            <a:extLst xmlns:a="http://schemas.openxmlformats.org/drawingml/2006/main">
              <a:ext uri="{FF2B5EF4-FFF2-40B4-BE49-F238E27FC236}">
                <a16:creationId xmlns:a16="http://schemas.microsoft.com/office/drawing/2014/main" id="{C137DBBF-5594-4E62-9F59-690FA4A1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2B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770444C-501C-4F50-8281-37EC2253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90775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3EF68EB2-02E6-457D-8AB0-5397D62A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90900"/>
            <a:ext cx="2524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Make the QUBO</a:t>
            </a:r>
          </a:p>
        </p:txBody>
      </p:sp>
      <p:sp>
        <p:nvSpPr>
          <p:cNvPr id="12" name="step-body-1">
            <a:extLst xmlns:a="http://schemas.openxmlformats.org/drawingml/2006/main">
              <a:ext uri="{FF2B5EF4-FFF2-40B4-BE49-F238E27FC236}">
                <a16:creationId xmlns:a16="http://schemas.microsoft.com/office/drawing/2014/main" id="{AEA2E150-7831-4D51-ACFE-99A18C9B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62400"/>
            <a:ext cx="2333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Turn each possible start time into a yes or no choice.</a:t>
            </a:r>
          </a:p>
        </p:txBody>
      </p:sp>
      <p:sp>
        <p:nvSpPr>
          <p:cNvPr id="13" name="step-circle-2">
            <a:extLst xmlns:a="http://schemas.openxmlformats.org/drawingml/2006/main">
              <a:ext uri="{FF2B5EF4-FFF2-40B4-BE49-F238E27FC236}">
                <a16:creationId xmlns:a16="http://schemas.microsoft.com/office/drawing/2014/main" id="{2F7691DE-9C44-4978-A6F9-8D47B52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4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AF5E5B4-425A-461A-9EF9-6ED4A123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390775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FAE20851-2328-40B4-ADF9-E0C1A52F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2524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Run both methods</a:t>
            </a:r>
          </a:p>
        </p:txBody>
      </p:sp>
      <p:sp>
        <p:nvSpPr>
          <p:cNvPr id="1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C24F1FA4-2B8F-41F6-8DA4-E5648173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2333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Create a classical schedule and an annealing schedule.</a:t>
            </a:r>
          </a:p>
        </p:txBody>
      </p:sp>
      <p:sp>
        <p:nvSpPr>
          <p:cNvPr id="17" name="step-circle-3">
            <a:extLst xmlns:a="http://schemas.openxmlformats.org/drawingml/2006/main">
              <a:ext uri="{FF2B5EF4-FFF2-40B4-BE49-F238E27FC236}">
                <a16:creationId xmlns:a16="http://schemas.microsoft.com/office/drawing/2014/main" id="{2AE79D87-004D-4EBF-A8E4-4F711D87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9075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83A777A8-E2DF-4750-A81C-B3926DE9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390775"/>
            <a:ext cx="41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9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50CD9CD8-D0F4-4D01-9056-BC7B6D72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2524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Check the schedules</a:t>
            </a:r>
          </a:p>
        </p:txBody>
      </p:sp>
      <p:sp>
        <p:nvSpPr>
          <p:cNvPr id="20" name="step-body-3">
            <a:extLst xmlns:a="http://schemas.openxmlformats.org/drawingml/2006/main">
              <a:ext uri="{FF2B5EF4-FFF2-40B4-BE49-F238E27FC236}">
                <a16:creationId xmlns:a16="http://schemas.microsoft.com/office/drawing/2014/main" id="{A1CCD8C8-2107-40BC-965E-996DA530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62400"/>
            <a:ext cx="2333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that each schedule follows the rules.</a:t>
            </a:r>
          </a:p>
        </p:txBody>
      </p:sp>
    </p:spTree>
    <p:extLst>
      <p:ext uri="{BB962C8B-B14F-4D97-AF65-F5344CB8AC3E}">
        <p14:creationId xmlns:p14="http://schemas.microsoft.com/office/powerpoint/2010/main" val="897435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4">
            <a:extLst xmlns:a="http://schemas.openxmlformats.org/drawingml/2006/main">
              <a:ext uri="{FF2B5EF4-FFF2-40B4-BE49-F238E27FC236}">
                <a16:creationId xmlns:a16="http://schemas.microsoft.com/office/drawing/2014/main" id="{22AD6E14-6B79-43E0-9D11-C22E993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How the QUBO represents the schedule</a:t>
            </a:r>
          </a:p>
        </p:txBody>
      </p:sp>
      <p:sp>
        <p:nvSpPr>
          <p:cNvPr id="2" name="qubo-question-label">
            <a:extLst xmlns:a="http://schemas.openxmlformats.org/drawingml/2006/main">
              <a:ext uri="{FF2B5EF4-FFF2-40B4-BE49-F238E27FC236}">
                <a16:creationId xmlns:a16="http://schemas.microsoft.com/office/drawing/2014/main" id="{E38C4303-212F-4D64-8A7C-A6697DF4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667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1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Each variable represents one start-time choice.</a:t>
            </a:r>
          </a:p>
        </p:txBody>
      </p:sp>
      <p:sp>
        <p:nvSpPr>
          <p:cNvPr id="3" name="qubo-question">
            <a:extLst xmlns:a="http://schemas.openxmlformats.org/drawingml/2006/main">
              <a:ext uri="{FF2B5EF4-FFF2-40B4-BE49-F238E27FC236}">
                <a16:creationId xmlns:a16="http://schemas.microsoft.com/office/drawing/2014/main" id="{BFEAB4C3-FB63-4603-BA6A-7B5D1F0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4572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qubo-question-text">
            <a:extLst xmlns:a="http://schemas.openxmlformats.org/drawingml/2006/main">
              <a:ext uri="{FF2B5EF4-FFF2-40B4-BE49-F238E27FC236}">
                <a16:creationId xmlns:a16="http://schemas.microsoft.com/office/drawing/2014/main" id="{32DA4C64-E241-4878-9862-FDA97BF0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038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1 means the task starts here.
0 means it does not.</a:t>
            </a:r>
          </a:p>
        </p:txBody>
      </p:sp>
      <p:sp>
        <p:nvSpPr>
          <p:cNvPr id="5" name="penalty-label">
            <a:extLst xmlns:a="http://schemas.openxmlformats.org/drawingml/2006/main">
              <a:ext uri="{FF2B5EF4-FFF2-40B4-BE49-F238E27FC236}">
                <a16:creationId xmlns:a16="http://schemas.microsoft.com/office/drawing/2014/main" id="{F337AA98-5BAA-4451-9243-0D80925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447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The score goes up if:</a:t>
            </a:r>
          </a:p>
        </p:txBody>
      </p:sp>
      <p:sp>
        <p:nvSpPr>
          <p:cNvPr id="6" name="penalty-list">
            <a:extLst xmlns:a="http://schemas.openxmlformats.org/drawingml/2006/main">
              <a:ext uri="{FF2B5EF4-FFF2-40B4-BE49-F238E27FC236}">
                <a16:creationId xmlns:a16="http://schemas.microsoft.com/office/drawing/2014/main" id="{D123A6B1-9DD6-46CB-BC11-B6C6C3A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333875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• a task is scheduled twice
• a task starts too early
• more than three crews are working</a:t>
            </a:r>
          </a:p>
        </p:txBody>
      </p:sp>
      <p:sp>
        <p:nvSpPr>
          <p:cNvPr id="7" name="matrix-caption">
            <a:extLst xmlns:a="http://schemas.openxmlformats.org/drawingml/2006/main">
              <a:ext uri="{FF2B5EF4-FFF2-40B4-BE49-F238E27FC236}">
                <a16:creationId xmlns:a16="http://schemas.microsoft.com/office/drawing/2014/main" id="{AB012F91-1400-4531-B5E1-02069E1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81650"/>
            <a:ext cx="5000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This matrix holds the scores for a small four-task example.</a:t>
            </a:r>
          </a:p>
        </p:txBody>
      </p:sp>
      <p:sp>
        <p:nvSpPr>
          <p:cNvPr id="8" name="source-4">
            <a:extLst xmlns:a="http://schemas.openxmlformats.org/drawingml/2006/main">
              <a:ext uri="{FF2B5EF4-FFF2-40B4-BE49-F238E27FC236}">
                <a16:creationId xmlns:a16="http://schemas.microsoft.com/office/drawing/2014/main" id="{DE1058B8-55B7-42E6-AA55-9346300B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page-4">
            <a:extLst xmlns:a="http://schemas.openxmlformats.org/drawingml/2006/main">
              <a:ext uri="{FF2B5EF4-FFF2-40B4-BE49-F238E27FC236}">
                <a16:creationId xmlns:a16="http://schemas.microsoft.com/office/drawing/2014/main" id="{682FA5C9-B8EA-43D6-98F0-3190209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05328a302431b"/>
          <a:stretch xmlns:a="http://schemas.openxmlformats.org/drawingml/2006/main"/>
        </p:blipFill>
        <p:spPr>
          <a:xfrm xmlns:a="http://schemas.openxmlformats.org/drawingml/2006/main">
            <a:off x="6352569" y="1504950"/>
            <a:ext cx="4573212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qubo-plot-title-mask">
            <a:extLst xmlns:a="http://schemas.openxmlformats.org/drawingml/2006/main">
              <a:ext uri="{FF2B5EF4-FFF2-40B4-BE49-F238E27FC236}">
                <a16:creationId xmlns:a16="http://schemas.microsoft.com/office/drawing/2014/main" id="{D88A501D-208C-4751-A215-ABDE891A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419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011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5">
            <a:extLst xmlns:a="http://schemas.openxmlformats.org/drawingml/2006/main">
              <a:ext uri="{FF2B5EF4-FFF2-40B4-BE49-F238E27FC236}">
                <a16:creationId xmlns:a16="http://schemas.microsoft.com/office/drawing/2014/main" id="{BEF64409-5D0F-4FCB-830F-9CCF81C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The two scheduling methods</a:t>
            </a:r>
          </a:p>
        </p:txBody>
      </p:sp>
      <p:sp>
        <p:nvSpPr>
          <p:cNvPr id="2" name="classical-panel">
            <a:extLst xmlns:a="http://schemas.openxmlformats.org/drawingml/2006/main">
              <a:ext uri="{FF2B5EF4-FFF2-40B4-BE49-F238E27FC236}">
                <a16:creationId xmlns:a16="http://schemas.microsoft.com/office/drawing/2014/main" id="{75516674-FE2F-471F-9322-10944FF8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8162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3" name="classical-title">
            <a:extLst xmlns:a="http://schemas.openxmlformats.org/drawingml/2006/main">
              <a:ext uri="{FF2B5EF4-FFF2-40B4-BE49-F238E27FC236}">
                <a16:creationId xmlns:a16="http://schemas.microsoft.com/office/drawing/2014/main" id="{12E0220E-15B4-4C05-8781-69DAFDDE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810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CPM-based scheduler</a:t>
            </a:r>
          </a:p>
        </p:txBody>
      </p:sp>
      <p:sp>
        <p:nvSpPr>
          <p:cNvPr id="4" name="classical-body">
            <a:extLst xmlns:a="http://schemas.openxmlformats.org/drawingml/2006/main">
              <a:ext uri="{FF2B5EF4-FFF2-40B4-BE49-F238E27FC236}">
                <a16:creationId xmlns:a16="http://schemas.microsoft.com/office/drawing/2014/main" id="{7019A3A7-43A6-4374-B8C6-99D341D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714875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Ranks ready tasks by how much they affect the finish date.
Starts the highest-ranked work first.
Gives the same result on every run.</a:t>
            </a:r>
          </a:p>
        </p:txBody>
      </p:sp>
      <p:sp>
        <p:nvSpPr>
          <p:cNvPr id="5" name="anneal-panel">
            <a:extLst xmlns:a="http://schemas.openxmlformats.org/drawingml/2006/main">
              <a:ext uri="{FF2B5EF4-FFF2-40B4-BE49-F238E27FC236}">
                <a16:creationId xmlns:a16="http://schemas.microsoft.com/office/drawing/2014/main" id="{243E7BCE-D60B-47EF-834D-EF4C9F05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619250"/>
            <a:ext cx="576262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6" name="anneal-title">
            <a:extLst xmlns:a="http://schemas.openxmlformats.org/drawingml/2006/main">
              <a:ext uri="{FF2B5EF4-FFF2-40B4-BE49-F238E27FC236}">
                <a16:creationId xmlns:a16="http://schemas.microsoft.com/office/drawing/2014/main" id="{21440E8A-22F7-4E6D-AE80-78219D8E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14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Simulated annealing</a:t>
            </a:r>
          </a:p>
        </p:txBody>
      </p:sp>
      <p:sp>
        <p:nvSpPr>
          <p:cNvPr id="7" name="anneal-body">
            <a:extLst xmlns:a="http://schemas.openxmlformats.org/drawingml/2006/main">
              <a:ext uri="{FF2B5EF4-FFF2-40B4-BE49-F238E27FC236}">
                <a16:creationId xmlns:a16="http://schemas.microsoft.com/office/drawing/2014/main" id="{0E072679-F5FF-4E54-ADB4-1633416F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28900"/>
            <a:ext cx="5048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Tries many possible schedules.
Keeps some worse options for a while so it does not get stuck.
Returns the best valid schedule it found.</a:t>
            </a:r>
          </a:p>
        </p:txBody>
      </p:sp>
      <p:sp>
        <p:nvSpPr>
          <p:cNvPr id="8" name="shared-rule">
            <a:extLst xmlns:a="http://schemas.openxmlformats.org/drawingml/2006/main">
              <a:ext uri="{FF2B5EF4-FFF2-40B4-BE49-F238E27FC236}">
                <a16:creationId xmlns:a16="http://schemas.microsoft.com/office/drawing/2014/main" id="{E2BE415F-0F9C-4A2D-8A0B-37E85618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05475"/>
            <a:ext cx="8858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Both methods use the same task order and the same three-crew limit.</a:t>
            </a:r>
          </a:p>
        </p:txBody>
      </p:sp>
      <p:sp>
        <p:nvSpPr>
          <p:cNvPr id="9" name="source-5">
            <a:extLst xmlns:a="http://schemas.openxmlformats.org/drawingml/2006/main">
              <a:ext uri="{FF2B5EF4-FFF2-40B4-BE49-F238E27FC236}">
                <a16:creationId xmlns:a16="http://schemas.microsoft.com/office/drawing/2014/main" id="{DEF7A0C9-D14C-4198-B022-1268E239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page-5">
            <a:extLst xmlns:a="http://schemas.openxmlformats.org/drawingml/2006/main">
              <a:ext uri="{FF2B5EF4-FFF2-40B4-BE49-F238E27FC236}">
                <a16:creationId xmlns:a16="http://schemas.microsoft.com/office/drawing/2014/main" id="{555F096B-1F27-49E7-811D-10830C5F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17392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C3EFADDC-CC2B-411C-B746-857C056B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Ten-task schedule results</a:t>
            </a:r>
          </a:p>
        </p:txBody>
      </p:sp>
      <p:sp>
        <p:nvSpPr>
          <p:cNvPr id="2" name="main-result-summary">
            <a:extLst xmlns:a="http://schemas.openxmlformats.org/drawingml/2006/main">
              <a:ext uri="{FF2B5EF4-FFF2-40B4-BE49-F238E27FC236}">
                <a16:creationId xmlns:a16="http://schemas.microsoft.com/office/drawing/2014/main" id="{306C6441-DB6B-42F9-A560-66B1A71A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Both methods finished the project in 20 time slots.</a:t>
            </a:r>
          </a:p>
        </p:txBody>
      </p:sp>
      <p:sp>
        <p:nvSpPr>
          <p:cNvPr id="3" name="stat-cpm">
            <a:extLst xmlns:a="http://schemas.openxmlformats.org/drawingml/2006/main">
              <a:ext uri="{FF2B5EF4-FFF2-40B4-BE49-F238E27FC236}">
                <a16:creationId xmlns:a16="http://schemas.microsoft.com/office/drawing/2014/main" id="{AE7062F6-20AB-45E7-A931-51A23AD4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3333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stat-cpm-number">
            <a:extLst xmlns:a="http://schemas.openxmlformats.org/drawingml/2006/main">
              <a:ext uri="{FF2B5EF4-FFF2-40B4-BE49-F238E27FC236}">
                <a16:creationId xmlns:a16="http://schemas.microsoft.com/office/drawing/2014/main" id="{DDFA143B-E554-4E59-8F12-51F94438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704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2B7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5" name="stat-cpm-label">
            <a:extLst xmlns:a="http://schemas.openxmlformats.org/drawingml/2006/main">
              <a:ext uri="{FF2B5EF4-FFF2-40B4-BE49-F238E27FC236}">
                <a16:creationId xmlns:a16="http://schemas.microsoft.com/office/drawing/2014/main" id="{63E0B291-0215-420E-88B5-3E523D77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38800"/>
            <a:ext cx="2143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Classical makespan</a:t>
            </a:r>
          </a:p>
        </p:txBody>
      </p:sp>
      <p:sp>
        <p:nvSpPr>
          <p:cNvPr id="6" name="stat-sa">
            <a:extLst xmlns:a="http://schemas.openxmlformats.org/drawingml/2006/main">
              <a:ext uri="{FF2B5EF4-FFF2-40B4-BE49-F238E27FC236}">
                <a16:creationId xmlns:a16="http://schemas.microsoft.com/office/drawing/2014/main" id="{AF2DB369-DF99-4FB9-AFFC-A26B01F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410200"/>
            <a:ext cx="3333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stat-sa-number">
            <a:extLst xmlns:a="http://schemas.openxmlformats.org/drawingml/2006/main">
              <a:ext uri="{FF2B5EF4-FFF2-40B4-BE49-F238E27FC236}">
                <a16:creationId xmlns:a16="http://schemas.microsoft.com/office/drawing/2014/main" id="{E6BD1DA9-213A-4F8F-A11D-2CCA1AA6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524500"/>
            <a:ext cx="704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2B7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8" name="stat-sa-label">
            <a:extLst xmlns:a="http://schemas.openxmlformats.org/drawingml/2006/main">
              <a:ext uri="{FF2B5EF4-FFF2-40B4-BE49-F238E27FC236}">
                <a16:creationId xmlns:a16="http://schemas.microsoft.com/office/drawing/2014/main" id="{3B877A3C-A87D-46C9-BC9B-D8722FC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38800"/>
            <a:ext cx="2143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Annealing makespan</a:t>
            </a:r>
          </a:p>
        </p:txBody>
      </p:sp>
      <p:sp>
        <p:nvSpPr>
          <p:cNvPr id="9" name="stat-bound">
            <a:extLst xmlns:a="http://schemas.openxmlformats.org/drawingml/2006/main">
              <a:ext uri="{FF2B5EF4-FFF2-40B4-BE49-F238E27FC236}">
                <a16:creationId xmlns:a16="http://schemas.microsoft.com/office/drawing/2014/main" id="{A1ACEFD3-D4F5-47A5-9665-13EF9EA0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10200"/>
            <a:ext cx="3333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stat-bound-number">
            <a:extLst xmlns:a="http://schemas.openxmlformats.org/drawingml/2006/main">
              <a:ext uri="{FF2B5EF4-FFF2-40B4-BE49-F238E27FC236}">
                <a16:creationId xmlns:a16="http://schemas.microsoft.com/office/drawing/2014/main" id="{4F926747-4322-475A-BDEE-93593E35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524500"/>
            <a:ext cx="704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11" name="stat-bound-label">
            <a:extLst xmlns:a="http://schemas.openxmlformats.org/drawingml/2006/main">
              <a:ext uri="{FF2B5EF4-FFF2-40B4-BE49-F238E27FC236}">
                <a16:creationId xmlns:a16="http://schemas.microsoft.com/office/drawing/2014/main" id="{79881A99-A1E7-4F3A-8C16-11D55F0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38800"/>
            <a:ext cx="2143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Lower bound</a:t>
            </a:r>
          </a:p>
        </p:txBody>
      </p:sp>
      <p:sp>
        <p:nvSpPr>
          <p:cNvPr id="12" name="source-6">
            <a:extLst xmlns:a="http://schemas.openxmlformats.org/drawingml/2006/main">
              <a:ext uri="{FF2B5EF4-FFF2-40B4-BE49-F238E27FC236}">
                <a16:creationId xmlns:a16="http://schemas.microsoft.com/office/drawing/2014/main" id="{281049E7-31BD-4F2E-B6E1-B593BD54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3" name="page-6">
            <a:extLst xmlns:a="http://schemas.openxmlformats.org/drawingml/2006/main">
              <a:ext uri="{FF2B5EF4-FFF2-40B4-BE49-F238E27FC236}">
                <a16:creationId xmlns:a16="http://schemas.microsoft.com/office/drawing/2014/main" id="{04A4AC95-2196-441B-81EC-C903B2E7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d3651ee5c41a5"/>
          <a:srcRect xmlns:a="http://schemas.openxmlformats.org/drawingml/2006/main" l="0" t="2966" r="0" b="29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1381125"/>
            <a:ext cx="11468100" cy="3810000"/>
          </a:xfrm>
          <a:prstGeom xmlns:a="http://schemas.openxmlformats.org/drawingml/2006/main" prst="rect">
            <a:avLst/>
          </a:prstGeom>
        </p:spPr>
      </p:pic>
      <p:sp>
        <p:nvSpPr>
          <p:cNvPr id="15" name="gantt-title-mask">
            <a:extLst xmlns:a="http://schemas.openxmlformats.org/drawingml/2006/main">
              <a:ext uri="{FF2B5EF4-FFF2-40B4-BE49-F238E27FC236}">
                <a16:creationId xmlns:a16="http://schemas.microsoft.com/office/drawing/2014/main" id="{7EEF5773-40F4-4FDA-A0CD-38CFEDBE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33500"/>
            <a:ext cx="1146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8756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B0163FD2-2126-43DA-B2A9-40B0170F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Random test case results</a:t>
            </a:r>
          </a:p>
        </p:txBody>
      </p:sp>
      <p:sp>
        <p:nvSpPr>
          <p:cNvPr id="2" name="benchmark-summary">
            <a:extLst xmlns:a="http://schemas.openxmlformats.org/drawingml/2006/main">
              <a:ext uri="{FF2B5EF4-FFF2-40B4-BE49-F238E27FC236}">
                <a16:creationId xmlns:a16="http://schemas.microsoft.com/office/drawing/2014/main" id="{C761737B-AB10-4C00-B349-438E43D3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742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The classical scheduler was faster. It matched or beat annealing in all 60 runs.</a:t>
            </a:r>
          </a:p>
        </p:txBody>
      </p:sp>
      <p:sp>
        <p:nvSpPr>
          <p:cNvPr id="3" name="bench-feasible">
            <a:extLst xmlns:a="http://schemas.openxmlformats.org/drawingml/2006/main">
              <a:ext uri="{FF2B5EF4-FFF2-40B4-BE49-F238E27FC236}">
                <a16:creationId xmlns:a16="http://schemas.microsoft.com/office/drawing/2014/main" id="{25388754-93C8-4B8E-A1BD-274C9E7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81150"/>
            <a:ext cx="3381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bench-feasible-value">
            <a:extLst xmlns:a="http://schemas.openxmlformats.org/drawingml/2006/main">
              <a:ext uri="{FF2B5EF4-FFF2-40B4-BE49-F238E27FC236}">
                <a16:creationId xmlns:a16="http://schemas.microsoft.com/office/drawing/2014/main" id="{743718EA-EF55-4731-A775-FAFAE070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114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2B7"/>
                </a:solidFill>
                <a:latin typeface="Helvetica Neue"/>
                <a:ea typeface="Helvetica Neue"/>
                <a:cs typeface="Helvetica Neue"/>
              </a:defRPr>
            </a:pPr>
            <a:r>
              <a:t>60 / 60</a:t>
            </a:r>
          </a:p>
        </p:txBody>
      </p:sp>
      <p:sp>
        <p:nvSpPr>
          <p:cNvPr id="5" name="bench-feasible-label">
            <a:extLst xmlns:a="http://schemas.openxmlformats.org/drawingml/2006/main">
              <a:ext uri="{FF2B5EF4-FFF2-40B4-BE49-F238E27FC236}">
                <a16:creationId xmlns:a16="http://schemas.microsoft.com/office/drawing/2014/main" id="{49A5D8DC-CD4E-4C1D-97F6-46885EAA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097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valid annealing schedules</a:t>
            </a:r>
          </a:p>
        </p:txBody>
      </p:sp>
      <p:sp>
        <p:nvSpPr>
          <p:cNvPr id="6" name="bench-ties">
            <a:extLst xmlns:a="http://schemas.openxmlformats.org/drawingml/2006/main">
              <a:ext uri="{FF2B5EF4-FFF2-40B4-BE49-F238E27FC236}">
                <a16:creationId xmlns:a16="http://schemas.microsoft.com/office/drawing/2014/main" id="{569EF719-20D9-41CC-9B00-8D40B7C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28900"/>
            <a:ext cx="3381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bench-ties-value">
            <a:extLst xmlns:a="http://schemas.openxmlformats.org/drawingml/2006/main">
              <a:ext uri="{FF2B5EF4-FFF2-40B4-BE49-F238E27FC236}">
                <a16:creationId xmlns:a16="http://schemas.microsoft.com/office/drawing/2014/main" id="{AF863B5D-1941-456E-B343-FC64FEDF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43200"/>
            <a:ext cx="819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8" name="bench-ties-label">
            <a:extLst xmlns:a="http://schemas.openxmlformats.org/drawingml/2006/main">
              <a:ext uri="{FF2B5EF4-FFF2-40B4-BE49-F238E27FC236}">
                <a16:creationId xmlns:a16="http://schemas.microsoft.com/office/drawing/2014/main" id="{2842B43B-EDFD-49C6-ACCD-142F2974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57500"/>
            <a:ext cx="1952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same finish time</a:t>
            </a:r>
          </a:p>
        </p:txBody>
      </p:sp>
      <p:sp>
        <p:nvSpPr>
          <p:cNvPr id="9" name="bench-longer">
            <a:extLst xmlns:a="http://schemas.openxmlformats.org/drawingml/2006/main">
              <a:ext uri="{FF2B5EF4-FFF2-40B4-BE49-F238E27FC236}">
                <a16:creationId xmlns:a16="http://schemas.microsoft.com/office/drawing/2014/main" id="{AB034B6A-54E8-4E24-B8BB-B881AE22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76650"/>
            <a:ext cx="3381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bench-longer-value">
            <a:extLst xmlns:a="http://schemas.openxmlformats.org/drawingml/2006/main">
              <a:ext uri="{FF2B5EF4-FFF2-40B4-BE49-F238E27FC236}">
                <a16:creationId xmlns:a16="http://schemas.microsoft.com/office/drawing/2014/main" id="{24B69649-87F2-42E2-A106-B83F13A3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819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9A49"/>
                </a:solidFill>
                <a:latin typeface="Helvetica Neue"/>
                <a:ea typeface="Helvetica Neue"/>
                <a:cs typeface="Helvetica Neue"/>
              </a:defRPr>
            </a:pPr>
            <a:r>
              <a:t>44</a:t>
            </a:r>
          </a:p>
        </p:txBody>
      </p:sp>
      <p:sp>
        <p:nvSpPr>
          <p:cNvPr id="11" name="bench-longer-label">
            <a:extLst xmlns:a="http://schemas.openxmlformats.org/drawingml/2006/main">
              <a:ext uri="{FF2B5EF4-FFF2-40B4-BE49-F238E27FC236}">
                <a16:creationId xmlns:a16="http://schemas.microsoft.com/office/drawing/2014/main" id="{FA9D7A8B-D8E6-4EAF-98CD-E533D605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05250"/>
            <a:ext cx="1952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annealing took longer</a:t>
            </a:r>
          </a:p>
        </p:txBody>
      </p:sp>
      <p:sp>
        <p:nvSpPr>
          <p:cNvPr id="12" name="bench-shorter">
            <a:extLst xmlns:a="http://schemas.openxmlformats.org/drawingml/2006/main">
              <a:ext uri="{FF2B5EF4-FFF2-40B4-BE49-F238E27FC236}">
                <a16:creationId xmlns:a16="http://schemas.microsoft.com/office/drawing/2014/main" id="{7E7EFB9F-27B9-4DB1-9183-B510B386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24400"/>
            <a:ext cx="338137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bench-shorter-value">
            <a:extLst xmlns:a="http://schemas.openxmlformats.org/drawingml/2006/main">
              <a:ext uri="{FF2B5EF4-FFF2-40B4-BE49-F238E27FC236}">
                <a16:creationId xmlns:a16="http://schemas.microsoft.com/office/drawing/2014/main" id="{6387D8A9-7A92-4DBD-8817-2B4BA1DC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38700"/>
            <a:ext cx="819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94848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4" name="bench-shorter-label">
            <a:extLst xmlns:a="http://schemas.openxmlformats.org/drawingml/2006/main">
              <a:ext uri="{FF2B5EF4-FFF2-40B4-BE49-F238E27FC236}">
                <a16:creationId xmlns:a16="http://schemas.microsoft.com/office/drawing/2014/main" id="{E736782E-8B13-4483-B623-A4815074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953000"/>
            <a:ext cx="1952625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annealing finished sooner</a:t>
            </a:r>
          </a:p>
        </p:txBody>
      </p:sp>
      <p:sp>
        <p:nvSpPr>
          <p:cNvPr id="15" name="bench-note">
            <a:extLst xmlns:a="http://schemas.openxmlformats.org/drawingml/2006/main">
              <a:ext uri="{FF2B5EF4-FFF2-40B4-BE49-F238E27FC236}">
                <a16:creationId xmlns:a16="http://schemas.microsoft.com/office/drawing/2014/main" id="{B0A44678-4F52-40ED-84C7-AC62C9CA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293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922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Tests used 4 to 12 tasks with 2 or 3 crews.</a:t>
            </a:r>
          </a:p>
        </p:txBody>
      </p:sp>
      <p:sp>
        <p:nvSpPr>
          <p:cNvPr id="16" name="bench-line-1">
            <a:extLst xmlns:a="http://schemas.openxmlformats.org/drawingml/2006/main">
              <a:ext uri="{FF2B5EF4-FFF2-40B4-BE49-F238E27FC236}">
                <a16:creationId xmlns:a16="http://schemas.microsoft.com/office/drawing/2014/main" id="{53031A28-E23A-4E9A-B05C-6BB2070C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7" name="bench-line-2">
            <a:extLst xmlns:a="http://schemas.openxmlformats.org/drawingml/2006/main">
              <a:ext uri="{FF2B5EF4-FFF2-40B4-BE49-F238E27FC236}">
                <a16:creationId xmlns:a16="http://schemas.microsoft.com/office/drawing/2014/main" id="{25D160CC-7B5F-47A9-8A7F-BB71AAC5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7187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8" name="bench-line-3">
            <a:extLst xmlns:a="http://schemas.openxmlformats.org/drawingml/2006/main">
              <a:ext uri="{FF2B5EF4-FFF2-40B4-BE49-F238E27FC236}">
                <a16:creationId xmlns:a16="http://schemas.microsoft.com/office/drawing/2014/main" id="{15358164-AA2F-4CF9-AA08-3B273486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300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19" name="source-7">
            <a:extLst xmlns:a="http://schemas.openxmlformats.org/drawingml/2006/main">
              <a:ext uri="{FF2B5EF4-FFF2-40B4-BE49-F238E27FC236}">
                <a16:creationId xmlns:a16="http://schemas.microsoft.com/office/drawing/2014/main" id="{BE250C07-3D5F-46FD-A649-E130A37E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41BFCD85-A0A7-414F-8798-11500B94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f9484bcf4467a"/>
          <a:stretch xmlns:a="http://schemas.openxmlformats.org/drawingml/2006/main"/>
        </p:blipFill>
        <p:spPr>
          <a:xfrm xmlns:a="http://schemas.openxmlformats.org/drawingml/2006/main">
            <a:off x="400050" y="2417457"/>
            <a:ext cx="7429500" cy="2785086"/>
          </a:xfrm>
          <a:prstGeom xmlns:a="http://schemas.openxmlformats.org/drawingml/2006/main" prst="rect">
            <a:avLst/>
          </a:prstGeom>
        </p:spPr>
      </p:pic>
      <p:sp>
        <p:nvSpPr>
          <p:cNvPr id="22" name="benchmark-plot-title-mask">
            <a:extLst xmlns:a="http://schemas.openxmlformats.org/drawingml/2006/main">
              <a:ext uri="{FF2B5EF4-FFF2-40B4-BE49-F238E27FC236}">
                <a16:creationId xmlns:a16="http://schemas.microsoft.com/office/drawing/2014/main" id="{B14BF5FC-3CAC-4F4D-A201-7B2E71D7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34766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4172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52A7DA06-D06F-4CE5-B2E3-FA444220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049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QAOA test results</a:t>
            </a:r>
          </a:p>
        </p:txBody>
      </p:sp>
      <p:sp>
        <p:nvSpPr>
          <p:cNvPr id="2" name="qaoa-summary">
            <a:extLst xmlns:a="http://schemas.openxmlformats.org/drawingml/2006/main">
              <a:ext uri="{FF2B5EF4-FFF2-40B4-BE49-F238E27FC236}">
                <a16:creationId xmlns:a16="http://schemas.microsoft.com/office/drawing/2014/main" id="{3F7865A8-5510-4181-83F0-98E57C8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66800"/>
            <a:ext cx="685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QAOA was only run on the small examples.</a:t>
            </a:r>
          </a:p>
        </p:txBody>
      </p:sp>
      <p:sp>
        <p:nvSpPr>
          <p:cNvPr id="3" name="qaoa-rule">
            <a:extLst xmlns:a="http://schemas.openxmlformats.org/drawingml/2006/main">
              <a:ext uri="{FF2B5EF4-FFF2-40B4-BE49-F238E27FC236}">
                <a16:creationId xmlns:a16="http://schemas.microsoft.com/office/drawing/2014/main" id="{BDA7B25D-035E-47E5-A257-9CC7B0C7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57350"/>
            <a:ext cx="3143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qaoa-rule-title">
            <a:extLst xmlns:a="http://schemas.openxmlformats.org/drawingml/2006/main">
              <a:ext uri="{FF2B5EF4-FFF2-40B4-BE49-F238E27FC236}">
                <a16:creationId xmlns:a16="http://schemas.microsoft.com/office/drawing/2014/main" id="{1FE17B89-912C-4A91-B170-6A78814D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2571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Each QUBO variable needs one qubit.</a:t>
            </a:r>
          </a:p>
        </p:txBody>
      </p:sp>
      <p:sp>
        <p:nvSpPr>
          <p:cNvPr id="5" name="qaoa-rule-body">
            <a:extLst xmlns:a="http://schemas.openxmlformats.org/drawingml/2006/main">
              <a:ext uri="{FF2B5EF4-FFF2-40B4-BE49-F238E27FC236}">
                <a16:creationId xmlns:a16="http://schemas.microsoft.com/office/drawing/2014/main" id="{DCD85DF6-0C8F-4F9A-9C45-64687FA0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38400"/>
            <a:ext cx="2571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The model size grows quickly.</a:t>
            </a:r>
          </a:p>
        </p:txBody>
      </p:sp>
      <p:sp>
        <p:nvSpPr>
          <p:cNvPr id="6" name="qaoa-cap-title">
            <a:extLst xmlns:a="http://schemas.openxmlformats.org/drawingml/2006/main">
              <a:ext uri="{FF2B5EF4-FFF2-40B4-BE49-F238E27FC236}">
                <a16:creationId xmlns:a16="http://schemas.microsoft.com/office/drawing/2014/main" id="{3DDA1821-FE4C-4502-B0B2-AE4ED1E6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Local limit: 18 qubits</a:t>
            </a:r>
          </a:p>
        </p:txBody>
      </p:sp>
      <p:sp>
        <p:nvSpPr>
          <p:cNvPr id="7" name="qaoa-cap-body">
            <a:extLst xmlns:a="http://schemas.openxmlformats.org/drawingml/2006/main">
              <a:ext uri="{FF2B5EF4-FFF2-40B4-BE49-F238E27FC236}">
                <a16:creationId xmlns:a16="http://schemas.microsoft.com/office/drawing/2014/main" id="{CFD6A4CC-F298-4C49-9073-F68F6248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71462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The projects with two to four tasks stayed under this limit.</a:t>
            </a:r>
          </a:p>
        </p:txBody>
      </p:sp>
      <p:sp>
        <p:nvSpPr>
          <p:cNvPr id="8" name="qaoa-large-title">
            <a:extLst xmlns:a="http://schemas.openxmlformats.org/drawingml/2006/main">
              <a:ext uri="{FF2B5EF4-FFF2-40B4-BE49-F238E27FC236}">
                <a16:creationId xmlns:a16="http://schemas.microsoft.com/office/drawing/2014/main" id="{F1411C9C-8B0F-41F6-8EEB-28099999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4848"/>
                </a:solidFill>
                <a:latin typeface="Helvetica Neue"/>
                <a:ea typeface="Helvetica Neue"/>
                <a:cs typeface="Helvetica Neue"/>
              </a:defRPr>
            </a:pPr>
            <a:r>
              <a:t>Ten-task project: 93 qubits</a:t>
            </a:r>
          </a:p>
        </p:txBody>
      </p:sp>
      <p:sp>
        <p:nvSpPr>
          <p:cNvPr id="9" name="qaoa-large-body">
            <a:extLst xmlns:a="http://schemas.openxmlformats.org/drawingml/2006/main">
              <a:ext uri="{FF2B5EF4-FFF2-40B4-BE49-F238E27FC236}">
                <a16:creationId xmlns:a16="http://schemas.microsoft.com/office/drawing/2014/main" id="{6C155E8D-D59B-417B-A30A-5AAFBC7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71462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This case was not run.</a:t>
            </a:r>
          </a:p>
        </p:txBody>
      </p:sp>
      <p:sp>
        <p:nvSpPr>
          <p:cNvPr id="10" name="source-8">
            <a:extLst xmlns:a="http://schemas.openxmlformats.org/drawingml/2006/main">
              <a:ext uri="{FF2B5EF4-FFF2-40B4-BE49-F238E27FC236}">
                <a16:creationId xmlns:a16="http://schemas.microsoft.com/office/drawing/2014/main" id="{E3259B28-D593-4D25-AD61-B637AA07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1" name="page-8">
            <a:extLst xmlns:a="http://schemas.openxmlformats.org/drawingml/2006/main">
              <a:ext uri="{FF2B5EF4-FFF2-40B4-BE49-F238E27FC236}">
                <a16:creationId xmlns:a16="http://schemas.microsoft.com/office/drawing/2014/main" id="{651A6543-B9C7-4ED9-AA83-45C33438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c50b09196424a"/>
          <a:stretch xmlns:a="http://schemas.openxmlformats.org/drawingml/2006/main"/>
        </p:blipFill>
        <p:spPr>
          <a:xfrm xmlns:a="http://schemas.openxmlformats.org/drawingml/2006/main">
            <a:off x="400050" y="2424211"/>
            <a:ext cx="7667625" cy="2790628"/>
          </a:xfrm>
          <a:prstGeom xmlns:a="http://schemas.openxmlformats.org/drawingml/2006/main" prst="rect">
            <a:avLst/>
          </a:prstGeom>
        </p:spPr>
      </p:pic>
      <p:sp>
        <p:nvSpPr>
          <p:cNvPr id="13" name="qaoa-plot-title-mask">
            <a:extLst xmlns:a="http://schemas.openxmlformats.org/drawingml/2006/main">
              <a:ext uri="{FF2B5EF4-FFF2-40B4-BE49-F238E27FC236}">
                <a16:creationId xmlns:a16="http://schemas.microsoft.com/office/drawing/2014/main" id="{A3BBDCF8-51CE-462F-B9F3-5254770C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3429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2787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rail">
            <a:extLst xmlns:a="http://schemas.openxmlformats.org/drawingml/2006/main">
              <a:ext uri="{FF2B5EF4-FFF2-40B4-BE49-F238E27FC236}">
                <a16:creationId xmlns:a16="http://schemas.microsoft.com/office/drawing/2014/main" id="{B9EF93F3-F4AC-4D9D-8B98-F3D69220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2B7"/>
          </a:solidFill>
          <a:ln xmlns:a="http://schemas.openxmlformats.org/drawingml/2006/main" w="0">
            <a:solidFill>
              <a:srgbClr val="2F72B7"/>
            </a:solidFill>
            <a:prstDash val="solid"/>
          </a:ln>
        </p:spPr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F04C613-3EE7-4965-BC26-7C48798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7715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What I learned</a:t>
            </a:r>
          </a:p>
        </p:txBody>
      </p:sp>
      <p:sp>
        <p:nvSpPr>
          <p:cNvPr id="3" name="close-text-1">
            <a:extLst xmlns:a="http://schemas.openxmlformats.org/drawingml/2006/main">
              <a:ext uri="{FF2B5EF4-FFF2-40B4-BE49-F238E27FC236}">
                <a16:creationId xmlns:a16="http://schemas.microsoft.com/office/drawing/2014/main" id="{70A63879-D62F-4BB1-909D-9B43C1C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971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The QUBO model produced valid schedules.</a:t>
            </a:r>
          </a:p>
        </p:txBody>
      </p:sp>
      <p:sp>
        <p:nvSpPr>
          <p:cNvPr id="4" name="close-line-1">
            <a:extLst xmlns:a="http://schemas.openxmlformats.org/drawingml/2006/main">
              <a:ext uri="{FF2B5EF4-FFF2-40B4-BE49-F238E27FC236}">
                <a16:creationId xmlns:a16="http://schemas.microsoft.com/office/drawing/2014/main" id="{2AAC873E-BE5A-4D9F-B8DB-57002B47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5" name="close-text-2">
            <a:extLst xmlns:a="http://schemas.openxmlformats.org/drawingml/2006/main">
              <a:ext uri="{FF2B5EF4-FFF2-40B4-BE49-F238E27FC236}">
                <a16:creationId xmlns:a16="http://schemas.microsoft.com/office/drawing/2014/main" id="{0A11DE63-8CB5-443F-9929-D71A77DF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971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Annealing matched the classical result on the main project.</a:t>
            </a:r>
          </a:p>
        </p:txBody>
      </p:sp>
      <p:sp>
        <p:nvSpPr>
          <p:cNvPr id="6" name="close-line-2">
            <a:extLst xmlns:a="http://schemas.openxmlformats.org/drawingml/2006/main">
              <a:ext uri="{FF2B5EF4-FFF2-40B4-BE49-F238E27FC236}">
                <a16:creationId xmlns:a16="http://schemas.microsoft.com/office/drawing/2014/main" id="{FD3A0ED7-782F-4443-B78B-B9488D7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solidFill>
              <a:srgbClr val="D9DEE7"/>
            </a:solidFill>
            <a:prstDash val="solid"/>
          </a:ln>
        </p:spPr>
      </p:sp>
      <p:sp>
        <p:nvSpPr>
          <p:cNvPr id="7" name="close-text-3">
            <a:extLst xmlns:a="http://schemas.openxmlformats.org/drawingml/2006/main">
              <a:ext uri="{FF2B5EF4-FFF2-40B4-BE49-F238E27FC236}">
                <a16:creationId xmlns:a16="http://schemas.microsoft.com/office/drawing/2014/main" id="{63C708BE-D22D-452A-AA00-8DC96B87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971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t>The classical method was better on the random test cases.</a:t>
            </a:r>
          </a:p>
        </p:txBody>
      </p:sp>
      <p:sp>
        <p:nvSpPr>
          <p:cNvPr id="8" name="close-next">
            <a:extLst xmlns:a="http://schemas.openxmlformats.org/drawingml/2006/main">
              <a:ext uri="{FF2B5EF4-FFF2-40B4-BE49-F238E27FC236}">
                <a16:creationId xmlns:a16="http://schemas.microsoft.com/office/drawing/2014/main" id="{EBC9915E-FB1B-45FF-A312-7EC04340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90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t>A larger study should include more projects and stronger classical methods.</a:t>
            </a:r>
          </a:p>
        </p:txBody>
      </p:sp>
      <p:sp>
        <p:nvSpPr>
          <p:cNvPr id="9" name="source-9">
            <a:extLst xmlns:a="http://schemas.openxmlformats.org/drawingml/2006/main">
              <a:ext uri="{FF2B5EF4-FFF2-40B4-BE49-F238E27FC236}">
                <a16:creationId xmlns:a16="http://schemas.microsoft.com/office/drawing/2014/main" id="{E07A2158-6520-4D9F-8809-D5F1FEE2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page-9">
            <a:extLst xmlns:a="http://schemas.openxmlformats.org/drawingml/2006/main">
              <a:ext uri="{FF2B5EF4-FFF2-40B4-BE49-F238E27FC236}">
                <a16:creationId xmlns:a16="http://schemas.microsoft.com/office/drawing/2014/main" id="{AE05A27A-2739-4C05-B46F-642CE524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7503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2026-07-20T02:35:45.4240000Z</dcterms:created>
  <dcterms:modified xsi:type="dcterms:W3CDTF">2026-07-20T02:35:45.4240000Z</dcterms:modified>
</coreProperties>
</file>